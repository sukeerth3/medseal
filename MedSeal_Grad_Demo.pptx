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strictFirstAndLastChars="0" saveSubsetFonts="1" autoCompressPictures="0">
  <p:sldMasterIdLst>
    <p:sldMasterId id="2147483651" r:id="rId1"/>
  </p:sld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A39A"/>
    <a:srgbClr val="F1BE48"/>
    <a:srgbClr val="6E6259"/>
    <a:srgbClr val="010000"/>
    <a:srgbClr val="C8102E"/>
    <a:srgbClr val="7A6E67"/>
    <a:srgbClr val="F2BF49"/>
    <a:srgbClr val="ADA07A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 autoAdjust="0"/>
    <p:restoredTop sz="88426" autoAdjust="0"/>
  </p:normalViewPr>
  <p:slideViewPr>
    <p:cSldViewPr>
      <p:cViewPr varScale="1">
        <p:scale>
          <a:sx n="59" d="100"/>
          <a:sy n="59" d="100"/>
        </p:scale>
        <p:origin x="15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5A0C9-E830-1241-BEA3-6925DA004ECF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84522-76EF-EF4D-8870-07F3436BA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24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16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12725" y="348932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 descr="ISU LEFT white.eps"/>
          <p:cNvPicPr>
            <a:picLocks noChangeAspect="1"/>
          </p:cNvPicPr>
          <p:nvPr userDrawn="1"/>
        </p:nvPicPr>
        <p:blipFill>
          <a:blip r:embed="rId2"/>
          <a:srcRect b="38235"/>
          <a:stretch>
            <a:fillRect/>
          </a:stretch>
        </p:blipFill>
        <p:spPr bwMode="auto">
          <a:xfrm>
            <a:off x="3810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8"/>
          <p:cNvSpPr>
            <a:spLocks noChangeArrowheads="1"/>
          </p:cNvSpPr>
          <p:nvPr userDrawn="1"/>
        </p:nvSpPr>
        <p:spPr bwMode="auto">
          <a:xfrm>
            <a:off x="0" y="6348431"/>
            <a:ext cx="9144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 descr="ISU LEFT white.eps"/>
          <p:cNvPicPr>
            <a:picLocks noChangeAspect="1"/>
          </p:cNvPicPr>
          <p:nvPr userDrawn="1"/>
        </p:nvPicPr>
        <p:blipFill>
          <a:blip r:embed="rId2"/>
          <a:srcRect b="38235"/>
          <a:stretch>
            <a:fillRect/>
          </a:stretch>
        </p:blipFill>
        <p:spPr bwMode="auto">
          <a:xfrm>
            <a:off x="3810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Placeholder 4"/>
          <p:cNvSpPr txBox="1">
            <a:spLocks/>
          </p:cNvSpPr>
          <p:nvPr userDrawn="1"/>
        </p:nvSpPr>
        <p:spPr>
          <a:xfrm>
            <a:off x="4648200" y="6469856"/>
            <a:ext cx="4191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1200" kern="0" dirty="0">
                <a:latin typeface="Univers 75 Black" charset="0"/>
                <a:ea typeface="Univers 75 Black" charset="0"/>
                <a:cs typeface="Univers 75 Black" charset="0"/>
              </a:rPr>
              <a:t>Unit</a:t>
            </a:r>
            <a:r>
              <a:rPr lang="en-US" sz="1200" kern="0" baseline="0" dirty="0">
                <a:latin typeface="Univers 75 Black" charset="0"/>
                <a:ea typeface="Univers 75 Black" charset="0"/>
                <a:cs typeface="Univers 75 Black" charset="0"/>
              </a:rPr>
              <a:t> or Department Name Here</a:t>
            </a:r>
            <a:endParaRPr lang="en-US" sz="1200" kern="0" dirty="0">
              <a:latin typeface="Univers 75 Black" charset="0"/>
              <a:ea typeface="Univers 75 Black" charset="0"/>
              <a:cs typeface="Univers 75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9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8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1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42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926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880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6348431"/>
            <a:ext cx="9144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ISU LEFT white.eps"/>
          <p:cNvPicPr>
            <a:picLocks noChangeAspect="1"/>
          </p:cNvPicPr>
          <p:nvPr userDrawn="1"/>
        </p:nvPicPr>
        <p:blipFill>
          <a:blip r:embed="rId11"/>
          <a:srcRect b="38235"/>
          <a:stretch>
            <a:fillRect/>
          </a:stretch>
        </p:blipFill>
        <p:spPr bwMode="auto">
          <a:xfrm>
            <a:off x="381000" y="6503215"/>
            <a:ext cx="239649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Placeholder 4"/>
          <p:cNvSpPr txBox="1">
            <a:spLocks/>
          </p:cNvSpPr>
          <p:nvPr userDrawn="1"/>
        </p:nvSpPr>
        <p:spPr>
          <a:xfrm>
            <a:off x="4648200" y="6469856"/>
            <a:ext cx="4191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1200" kern="0" dirty="0">
                <a:latin typeface="Univers 75 Black" charset="0"/>
                <a:ea typeface="Univers 75 Black" charset="0"/>
                <a:cs typeface="Univers 75 Black" charset="0"/>
              </a:rPr>
              <a:t>Unit</a:t>
            </a:r>
            <a:r>
              <a:rPr lang="en-US" sz="1200" kern="0" baseline="0" dirty="0">
                <a:latin typeface="Univers 75 Black" charset="0"/>
                <a:ea typeface="Univers 75 Black" charset="0"/>
                <a:cs typeface="Univers 75 Black" charset="0"/>
              </a:rPr>
              <a:t> or Department Name Here</a:t>
            </a:r>
            <a:endParaRPr lang="en-US" sz="1200" kern="0" dirty="0">
              <a:latin typeface="Univers 75 Black" charset="0"/>
              <a:ea typeface="Univers 75 Black" charset="0"/>
              <a:cs typeface="Univers 75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8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B02A37"/>
                </a:solidFill>
                <a:latin typeface="Aptos"/>
              </a:rPr>
              <a:t>MEDSEAL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181F2A"/>
                </a:solidFill>
                <a:latin typeface="Aptos"/>
              </a:rPr>
              <a:t>Confidential Medical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3756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181F2A"/>
                </a:solidFill>
                <a:latin typeface="Aptos"/>
              </a:rPr>
              <a:t>on AWS Nitro Enclaves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297680"/>
            <a:ext cx="1645920" cy="0"/>
          </a:xfrm>
          <a:prstGeom prst="line">
            <a:avLst/>
          </a:prstGeom>
          <a:ln w="3810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434840"/>
            <a:ext cx="1097280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 dirty="0">
                <a:solidFill>
                  <a:srgbClr val="5C697A"/>
                </a:solidFill>
                <a:latin typeface="Aptos"/>
              </a:rPr>
              <a:t>A walkthrough of confidential computing,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5C697A"/>
                </a:solidFill>
                <a:latin typeface="Aptos"/>
              </a:rPr>
              <a:t>remote attestation, envelope encryption, and infrastructure-as-code.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5C697A"/>
                </a:solidFill>
                <a:latin typeface="Aptos"/>
              </a:rPr>
              <a:t>Sukeerth </a:t>
            </a:r>
            <a:r>
              <a:rPr lang="en-US" sz="1200">
                <a:solidFill>
                  <a:srgbClr val="5C697A"/>
                </a:solidFill>
                <a:latin typeface="Aptos"/>
              </a:rPr>
              <a:t>Kolakaluri</a:t>
            </a:r>
            <a:endParaRPr sz="1200" b="0" i="0" dirty="0">
              <a:solidFill>
                <a:srgbClr val="5C697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 ·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The problem we're solving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181F2A"/>
                </a:solidFill>
                <a:latin typeface="Aptos"/>
              </a:rPr>
              <a:t>A hospital wants to run NLP on patient records — de-identify PHI, classify ICD-10 — but does not trust the cloud provider, host OS, or rogue insiders.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85292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Encryption-at-rest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46120"/>
            <a:ext cx="33832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AES on disk. Solved by every cloud SDK.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432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743200"/>
            <a:ext cx="73152" cy="1280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85292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Encryption-in-transit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246120"/>
            <a:ext cx="33832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TLS protects bytes on the wire. Solved.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3832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73152" cy="1280160"/>
          </a:xfrm>
          <a:prstGeom prst="rect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85292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Encryption-in-USE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246120"/>
            <a:ext cx="310896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CPU needs plaintext to process. RAM is exposed.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B02A37"/>
                </a:solidFill>
                <a:latin typeface="Aptos"/>
              </a:rPr>
              <a:t>MedSeal is the third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Confidential computing — a TEE (Trusted Execution Environment) backed by hardware isolation, remote attestation, and a key-release policy bound to code identity.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1/14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2 ·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The mechanism: a hardware-isolated VM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920240"/>
            <a:ext cx="4846320" cy="2377440"/>
          </a:xfrm>
          <a:prstGeom prst="roundRect">
            <a:avLst>
              <a:gd name="adj" fmla="val 8000"/>
            </a:avLst>
          </a:prstGeom>
          <a:solidFill>
            <a:srgbClr val="181F2A"/>
          </a:solidFill>
          <a:ln w="9525"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Tiny VM
No NIC · No disk · No shell
One EIF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743200"/>
            <a:ext cx="1828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EIF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52628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DC9E1C"/>
          </a:solidFill>
          <a:ln w="9525">
            <a:solidFill>
              <a:srgbClr val="DC9E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81F2A"/>
                </a:solidFill>
                <a:latin typeface="Aptos"/>
              </a:rPr>
              <a:t>NSM chip
signs CBOR/COSE
attestation document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60" y="2377440"/>
            <a:ext cx="91440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52160" y="201168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Aptos"/>
              </a:rPr>
              <a:t>encrypted in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852160" y="4023360"/>
            <a:ext cx="91440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52160" y="4114800"/>
            <a:ext cx="914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  <a:latin typeface="Aptos"/>
              </a:rPr>
              <a:t>encrypted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20240"/>
            <a:ext cx="4572000" cy="3017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181F2A"/>
                </a:solidFill>
                <a:latin typeface="Aptos"/>
              </a:rPr>
              <a:t>•  Plaintext data lives ONLY inside enclave RAM, briefly.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81F2A"/>
                </a:solidFill>
                <a:latin typeface="Aptos"/>
              </a:rPr>
              <a:t>•  Hypervisor isolates memory; even host root cannot read.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81F2A"/>
                </a:solidFill>
                <a:latin typeface="Aptos"/>
              </a:rPr>
              <a:t>•  The NSM chip on the side proves what code is inside.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81F2A"/>
                </a:solidFill>
                <a:latin typeface="Aptos"/>
              </a:rPr>
              <a:t>•  Code tampered → PCR changes → KMS denies the key.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61772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B02A37"/>
                </a:solidFill>
                <a:latin typeface="Aptos"/>
              </a:rPr>
              <a:t>AWS Nitro Enclave: 2-4+ vCPU, 4 GB+ RAM, isolated by Nitro hypervisor.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2/14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3 ·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Three legs of trust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1945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73152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30428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1. Hardware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338328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Nitro hypervisor, separate VM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No NIC, no disk, no shell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Memory inaccessible to 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94560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73152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230428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2. Remote Attestation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97480"/>
            <a:ext cx="338328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NSM signs a CBOR/COSE doc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PCR0/1/2 = SHA-384 of EIF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Includes ephemeral pubkey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73152" cy="2194560"/>
          </a:xfrm>
          <a:prstGeom prst="rect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30428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3. Key-release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697480"/>
            <a:ext cx="3108960" cy="1600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KMS conditions on PCRs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kms:RecipientAttestation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Tampered code → no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181F2A"/>
                </a:solidFill>
                <a:latin typeface="Aptos"/>
              </a:rPr>
              <a:t>All three required. Remove any one — system fails.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Trust collapses to: "AWS hardware + the policy you wrote".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3/14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4 · 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Runtime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2860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81F2A"/>
                </a:solidFill>
                <a:latin typeface="Aptos"/>
              </a:rPr>
              <a:t>Doctor
(CLI / Browser)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4572000" cy="3200400"/>
          </a:xfrm>
          <a:prstGeom prst="roundRect">
            <a:avLst>
              <a:gd name="adj" fmla="val 4000"/>
            </a:avLst>
          </a:prstGeom>
          <a:solidFill>
            <a:srgbClr val="FFF6E6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0" y="1938528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Aptos"/>
              </a:rPr>
              <a:t>EC2 host  ·  UNTRUSTED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23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81F2A"/>
                </a:solidFill>
                <a:latin typeface="Aptos"/>
              </a:rPr>
              <a:t>Spring Boot Gateway
auth · validate · audit · S3 · DDB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520440"/>
            <a:ext cx="4114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181F2A"/>
                </a:solidFill>
                <a:latin typeface="Aptos"/>
              </a:rPr>
              <a:t>vsock-KMS-proxy (systemd)
forwards enclave → KMS:443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166360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E8F6F0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5276088"/>
            <a:ext cx="4206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Aptos"/>
              </a:rPr>
              <a:t>Nitro Enclave  ·  TRUSTED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715000"/>
            <a:ext cx="4114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1" i="0">
                <a:solidFill>
                  <a:srgbClr val="181F2A"/>
                </a:solidFill>
                <a:latin typeface="Aptos"/>
              </a:rPr>
              <a:t>NSM · attest · kmstool · de-id (spaCy) · classify · re-encrypt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828800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81F2A"/>
                </a:solidFill>
                <a:latin typeface="Aptos"/>
              </a:rPr>
              <a:t>KMS
Master Key + PCR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10896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81F2A"/>
                </a:solidFill>
                <a:latin typeface="Aptos"/>
              </a:rPr>
              <a:t>S3
encrypted 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11480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81F2A"/>
                </a:solidFill>
                <a:latin typeface="Aptos"/>
              </a:rPr>
              <a:t>DynamoDB
job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512064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81F2A"/>
                </a:solidFill>
                <a:latin typeface="Aptos"/>
              </a:rPr>
              <a:t>CloudWatch
audit logs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2743200"/>
            <a:ext cx="548640" cy="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5029200"/>
            <a:ext cx="0" cy="13716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577840" y="493776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0">
                <a:solidFill>
                  <a:srgbClr val="5C697A"/>
                </a:solidFill>
                <a:latin typeface="Aptos"/>
              </a:rPr>
              <a:t>vsock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772400" y="2377440"/>
            <a:ext cx="640080" cy="9144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72400" y="3520440"/>
            <a:ext cx="640080" cy="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72400" y="4526280"/>
            <a:ext cx="640080" cy="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5532120"/>
            <a:ext cx="640080" cy="0"/>
          </a:xfrm>
          <a:prstGeom prst="line">
            <a:avLst/>
          </a:prstGeom>
          <a:ln w="19050">
            <a:solidFill>
              <a:srgbClr val="181F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4/14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5 · TERRAFORM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Infrastructure as code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181F2A"/>
                </a:solidFill>
                <a:latin typeface="Aptos"/>
              </a:rPr>
              <a:t>The entire stack is declared in HCL under  infrastructure/  — six modules, one root.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10972800" cy="502920"/>
          </a:xfrm>
          <a:prstGeom prst="roundRect">
            <a:avLst>
              <a:gd name="adj" fmla="val 8000"/>
            </a:avLst>
          </a:prstGeom>
          <a:solidFill>
            <a:srgbClr val="1E2963"/>
          </a:solidFill>
          <a:ln w="9525">
            <a:solidFill>
              <a:srgbClr val="1E29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infrastructure/main.tf  ·  root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subnets, NAT,
routing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81328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4600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Nitro instance,
user-data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55848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89120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B02A37"/>
          </a:solidFill>
          <a:ln w="9525">
            <a:solidFill>
              <a:srgbClr val="B02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master key,
PCR 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30368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least-privilege
role policies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04888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8159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results bucket,
lifecycle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79407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3108960"/>
            <a:ext cx="1691640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dynamodb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611880"/>
            <a:ext cx="16916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0" i="0">
                <a:solidFill>
                  <a:srgbClr val="5C697A"/>
                </a:solidFill>
                <a:latin typeface="Aptos"/>
              </a:rPr>
              <a:t>jobs table,
PITR + TTL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853928" y="2788920"/>
            <a:ext cx="0" cy="320040"/>
          </a:xfrm>
          <a:prstGeom prst="line">
            <a:avLst/>
          </a:prstGeom>
          <a:ln w="10160">
            <a:solidFill>
              <a:srgbClr val="5C69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What the IaC layer gives us: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109728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Declarative — desired state, not steps. State file diffs against AWS API.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Reproducible — "terraform apply" rebuilds the same stack in any account.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Auditable — every change is a code diff with a plan output.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PCR pinning is a Terraform variable, gated by a lifecycle.precondition block.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5/14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6 · DEPLOYMENT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Build → measure → trust → deploy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How the same Python source becomes a sealed enclave whose identity is bound into KMS.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1343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Aptos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docker build  →  nitro-cli build-enclave  →  medseal.eif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scripts/build-enclave.sh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33172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31343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Aptos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62432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Extract PCR0 / PCR1 / PCR2  (SHA-384 of EIF, kernel, 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260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scripts/extract-pcrs.sh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11879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93591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Aptos"/>
              </a:rPr>
              <a:t>PIN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0448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Write real PCRs to  infrastructure/pcrs.auto.tfvars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39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auto-loaded by terraform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611879"/>
            <a:ext cx="365760" cy="365760"/>
          </a:xfrm>
          <a:prstGeom prst="ellipse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593591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B02A37"/>
                </a:solidFill>
                <a:latin typeface="Aptos"/>
              </a:rPr>
              <a:t>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90448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terraform apply  →  KMS policy now gates Decrypt on those PCRs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06239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infrastructure/modules/kms/main.tf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7375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Aptos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8464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scp gateway.jar + EIF + systemd units  →  EC2 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4864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scripts/deploy.sh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48920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873752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Aptos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18464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systemctl restart kms-proxy + gateway  ·  nitro-cli run-enclave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48640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 i="1">
                <a:solidFill>
                  <a:srgbClr val="5C697A"/>
                </a:solidFill>
                <a:latin typeface="Aptos"/>
              </a:rPr>
              <a:t>host: medseal-*.service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4864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81F2A"/>
                </a:solidFill>
                <a:latin typeface="Aptos"/>
              </a:rPr>
              <a:t>Bootstrap-PCR chicken-and-egg:  step 4 needs PCRs, but PCRs only exist after step 1.  Solved by a 'bootstrap' tfvars with all-zero PCRs (fail-closed) for the first apply, replaced by real PCRs after the first build.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6/14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7 · KEYS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Cryptography overview: three keys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5C697A"/>
                </a:solidFill>
                <a:latin typeface="Aptos"/>
              </a:rPr>
              <a:t>One job each. Together they make confidential decrypt 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73152" cy="2377440"/>
          </a:xfrm>
          <a:prstGeom prst="rect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Master Key (CMK)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338328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AES-256, lives in KMS forever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Never leaves the HSM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Carries the PCR policy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kms:Decrypt + GenerateDataKey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860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286000"/>
            <a:ext cx="73152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239572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Data Key (DEK)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788920"/>
            <a:ext cx="338328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AES-256, fresh per request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Encrypts the actual record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Plaintext form &lt; 50ms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Wiped after 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8600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286000"/>
            <a:ext cx="73152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39572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Ephemeral RSA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88920"/>
            <a:ext cx="3108960" cy="1783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RSA-2048, per-request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Public goes into attestation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Private stays in enclave RAM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Protects KMS → enclave trip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3776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0">
                <a:solidFill>
                  <a:srgbClr val="181F2A"/>
                </a:solidFill>
                <a:latin typeface="Aptos"/>
              </a:rPr>
              <a:t>Why three?  Because the host is untrusted.  KMS's reply has to travel through the host's vsock-proxy.  Without the ephemeral RSA wrapper, the host could snoop the Data Key in flight.  Same trick TLS uses to bootstrap a session.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7/14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8 · KEYS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Envelope encryption mechanics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5C697A"/>
                </a:solidFill>
                <a:latin typeface="Aptos"/>
              </a:rPr>
              <a:t>Step-by-step: how the doctor encrypts a record.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Client →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Consolas"/>
              </a:rPr>
              <a:t>POST /api/v1/datakey  (or direct KMS for CLI)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43784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Gateway → KMS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8152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Consolas"/>
              </a:rPr>
              <a:t>GenerateDataKey(KeyId=master, KeySpec=AES_256)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KMS →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7588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Consolas"/>
              </a:rPr>
              <a:t>{ Plaintext: 32 bytes,  CiphertextBlob: wrapped }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32504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Client encrypts locally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024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Consolas"/>
              </a:rPr>
              <a:t>AES-256-GCM(Plaintext, iv=12, aad=None) → ciphertext + 16-byte tag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66344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26864"/>
            <a:ext cx="5029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Client wipes Plaintext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64608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Consolas"/>
              </a:rPr>
              <a:t>Zero the buffer.  Ship only ciphertext + iv + tag + CiphertextBlob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286000"/>
            <a:ext cx="4754880" cy="338328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ENCRYPTED PAYLOAD ON THE WIRE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─────────────────────────────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ciphertext       (variable)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iv               (12 bytes, GCM)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auth_tag         (16 bytes, GCM)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encrypted_DEK    (KMS-wrapped, ~120 B)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kms_key_id       (ARN)</a:t>
            </a:r>
          </a:p>
          <a:p>
            <a:pPr algn="l">
              <a:lnSpc>
                <a:spcPct val="115000"/>
              </a:lnSpc>
            </a:pPr>
            <a:endParaRPr sz="1100">
              <a:solidFill>
                <a:srgbClr val="181F2A"/>
              </a:solidFill>
              <a:latin typeface="Consolas"/>
            </a:endParaRP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All travel together; only KMS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can unwrap encrypted_DEK,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181F2A"/>
                </a:solidFill>
                <a:latin typeface="Consolas"/>
              </a:rPr>
              <a:t>and only with valid attestation.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1">
                <a:solidFill>
                  <a:srgbClr val="5C697A"/>
                </a:solidFill>
                <a:latin typeface="Aptos"/>
              </a:rPr>
              <a:t>AES-256-GCM = authenticated encryption.  Tampered ciphertext fails tag verification on decrypt.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8/14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9 · KEYS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Attested KMS handshake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Inside the enclave: how the wrapped DEK is unwrapped without the host ever seeing the plaintext.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Generate ephemeral RSA-2048 keypair  (E_pub, E_priv).  E_priv never leaves enclave RAM.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Ask NSM for an attestation document.  NSM writes CBOR/COSE_Sign1 over { PCR0/1/2, E_pub, nonce, ts }.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kmstool-enclave-cli sends:  { CiphertextBlob, AttestationDocument, KeyEncryptionAlgorithm: RSAES_OAEP_SHA_256 }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KMS verifies COSE signature against AWS hardware root.  Checks PCRs match policy.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KMS unwraps DEK with master key, then re-encrypts to E_pub as CMS EnvelopedData (RFC 5652).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80060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006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Enclave parses CMS:  KeyTransRecipientInfo(RSAES-OAEP-SHA-256) wrapping CEK; AES-256-GCM wrapping DEK.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30352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81F2A"/>
                </a:solidFill>
                <a:latin typeface="Aptos"/>
              </a:rPr>
              <a:t>Decrypt CEK with E_priv → decrypt inner content with CEK → 32-byte DEK in enclave RAM.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10972800" cy="4572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81F2A"/>
                </a:solidFill>
                <a:latin typeface="Aptos"/>
              </a:rPr>
              <a:t>Result:  the host sees only ciphertext flying through vsock-proxy.  The DEK appears in plaintext ONLY inside the enclave — and only because the policy let KMS release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9/14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10 · LIVE KMS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The policy IS the trust gate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5C697A"/>
                </a:solidFill>
                <a:latin typeface="Aptos"/>
              </a:rPr>
              <a:t>Real key policy on our live KMS key (truncated):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7315200" cy="310896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"Sid": "AllowEnclaveDecrypt",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"Effect": "Allow",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"Principal": { "AWS": "arn:aws:iam::3210...:role/medseal-ec2-role" },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"Action": ["kms:Decrypt", "kms:GenerateDataKey"],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"Resource": "*",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"Condition": {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  "StringEqualsIgnoreCase": {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    "kms:RecipientAttestation:PCR0": "c8d16892c4ad3fa0...",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    "kms:RecipientAttestation:PCR1": "4b4d5b3661b3efc1...",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    "kms:RecipientAttestation:PCR2": "2af361b212533b91..."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  }</a:t>
            </a:r>
          </a:p>
          <a:p>
            <a:pPr algn="l">
              <a:lnSpc>
                <a:spcPct val="115000"/>
              </a:lnSpc>
            </a:pPr>
            <a:r>
              <a:rPr sz="1000">
                <a:solidFill>
                  <a:srgbClr val="181F2A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19456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0" y="2194560"/>
            <a:ext cx="73152" cy="3108960"/>
          </a:xfrm>
          <a:prstGeom prst="rect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30768" y="230428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Why this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2697480"/>
            <a:ext cx="3108960" cy="2514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KMS resolves the conditions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against the attestation doc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you submit alongside the call.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No match → AccessDenied.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AWS hardware signs the doc;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5C697A"/>
                </a:solidFill>
                <a:latin typeface="Aptos"/>
              </a:rPr>
              <a:t>• we cannot forge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8640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81F2A"/>
                </a:solidFill>
                <a:latin typeface="Aptos"/>
              </a:rPr>
              <a:t>Terraform side-rail:  modules/kms/main.tf has a lifecycle.precondition that fails the apply if any PCR is empty or the literal "PLACEHOLDER".  No way to ship a permissive policy by accident.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10/14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11 ·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End-to-end: one patient record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105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Doctor encrypts record locally with a fresh 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2140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09360" y="18288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81051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Gateway validates, audits, creates DDB job, forwards via vsock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12140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2783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Enclave generates Ephemeral RSA + asks NSM for attestation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3872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0" y="3246120"/>
            <a:ext cx="365760" cy="365760"/>
          </a:xfrm>
          <a:prstGeom prst="ellipse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22783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KMS verifies attestation + PCR policy → releases DEK to E_pub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53872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4515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Enclave AES-GCM decrypt → spaCy de-id → ICD-10 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5604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60" y="466344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645152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181F2A"/>
                </a:solidFill>
                <a:latin typeface="Aptos"/>
              </a:rPr>
              <a:t>Enclave re-encrypts with a fresh DEK → S3 → DDB 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95604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B02A37"/>
                </a:solidFill>
                <a:latin typeface="Aptos"/>
              </a:rPr>
              <a:t>Plaintext patient data exists for ~50 ms in enclave RAM only.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11/14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12 · WHAT AN ATTACKER ACTUALLY 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Threat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82880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Network sniffer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TLS-encrypted HTTPS — useless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02082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EC2 host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Encrypted blobs only. Cannot enter enclave.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61518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Compromised gateway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Same — only ciphertext flows through.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20954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Replaces enclave EIF with malware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2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PCRs change → KMS denies key, forever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380390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420624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29768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AWS rogue insider with EC2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Same as host root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398264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Steals doctor's laptop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89204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A few decrypted results. No master key.</a:t>
            </a:r>
          </a:p>
        </p:txBody>
      </p:sp>
      <p:sp>
        <p:nvSpPr>
          <p:cNvPr id="29" name="Oval 28"/>
          <p:cNvSpPr/>
          <p:nvPr/>
        </p:nvSpPr>
        <p:spPr>
          <a:xfrm>
            <a:off x="411480" y="4992624"/>
            <a:ext cx="146304" cy="146304"/>
          </a:xfrm>
          <a:prstGeom prst="ellipse">
            <a:avLst/>
          </a:prstGeom>
          <a:solidFill>
            <a:srgbClr val="DC9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5394960"/>
            <a:ext cx="10972800" cy="5486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3840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181F2A"/>
                </a:solidFill>
                <a:latin typeface="Aptos"/>
              </a:rPr>
              <a:t>Side-channel CPU attack (Spectre)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86400"/>
            <a:ext cx="6583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Out of scope. Hardware trust assumption.</a:t>
            </a:r>
          </a:p>
        </p:txBody>
      </p:sp>
      <p:sp>
        <p:nvSpPr>
          <p:cNvPr id="33" name="Oval 32"/>
          <p:cNvSpPr/>
          <p:nvPr/>
        </p:nvSpPr>
        <p:spPr>
          <a:xfrm>
            <a:off x="411480" y="5586984"/>
            <a:ext cx="146304" cy="146304"/>
          </a:xfrm>
          <a:prstGeom prst="ellipse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12/14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13 · WHAT WE'RE NOT CLAIMING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Honest limits and close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23774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>
                <a:solidFill>
                  <a:srgbClr val="181F2A"/>
                </a:solidFill>
                <a:latin typeface="Aptos"/>
              </a:rPr>
              <a:t>•  Side-channel CPU attacks (Spectre, Foreshadow) — out of scope; AWS hardware trust.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81F2A"/>
                </a:solidFill>
                <a:latin typeface="Aptos"/>
              </a:rPr>
              <a:t>•  Browser /datakey path — gateway briefly sees plaintext key for browser UX. CLI is safe.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81F2A"/>
                </a:solidFill>
                <a:latin typeface="Aptos"/>
              </a:rPr>
              <a:t>•  No KMS encryption-context binding to AAD yet — on the roadmap.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81F2A"/>
                </a:solidFill>
                <a:latin typeface="Aptos"/>
              </a:rPr>
              <a:t>•  No CloudWatch agent / dashboards / alarms yet — IAM permits, agent deploy pending.</a:t>
            </a:r>
          </a:p>
          <a:p>
            <a:pPr algn="l">
              <a:lnSpc>
                <a:spcPct val="140000"/>
              </a:lnSpc>
            </a:pPr>
            <a:r>
              <a:rPr sz="1400">
                <a:solidFill>
                  <a:srgbClr val="181F2A"/>
                </a:solidFill>
                <a:latin typeface="Aptos"/>
              </a:rPr>
              <a:t>•  Local Terraform state for dev — backend.tf staged for S3+DDB-lock migration.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81F2A"/>
                </a:solidFill>
                <a:latin typeface="Aptos"/>
              </a:rPr>
              <a:t>Three things to remember: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4632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84632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495604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Encryption alone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49240"/>
            <a:ext cx="33832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The CPU still needs plaintext to process. Confidential computing fills the gap.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84632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484632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495604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Trust is a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5349240"/>
            <a:ext cx="338328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Hardware isolation + remote attestation + key policy. All three or it doesn't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846320"/>
            <a:ext cx="33832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4846320"/>
            <a:ext cx="73152" cy="1371600"/>
          </a:xfrm>
          <a:prstGeom prst="rect">
            <a:avLst/>
          </a:prstGeom>
          <a:solidFill>
            <a:srgbClr val="B0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4956048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81F2A"/>
                </a:solidFill>
                <a:latin typeface="Aptos"/>
              </a:rPr>
              <a:t>Boring stuff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5349240"/>
            <a:ext cx="31089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5C697A"/>
                </a:solidFill>
                <a:latin typeface="Aptos"/>
              </a:rPr>
              <a:t>PCR pinning, fail-closed, no-mock-in-prod, lifecycle preconditions.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13/14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 i="0">
                <a:solidFill>
                  <a:srgbClr val="5C697A"/>
                </a:solidFill>
                <a:latin typeface="Aptos"/>
              </a:rPr>
              <a:t>14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 i="0">
                <a:solidFill>
                  <a:srgbClr val="181F2A"/>
                </a:solidFill>
                <a:latin typeface="Aptos"/>
              </a:rPr>
              <a:t>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188720" cy="0"/>
          </a:xfrm>
          <a:prstGeom prst="line">
            <a:avLst/>
          </a:prstGeom>
          <a:ln w="31750">
            <a:solidFill>
              <a:srgbClr val="B0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81F2A"/>
                </a:solidFill>
                <a:latin typeface="Aptos"/>
              </a:rPr>
              <a:t>Anticipated questions: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"Can the enclave lie about its PCRs?"  No — NSM signs with AWS-rooted hardware. The COSE signature is non-forgeable without the chip's private key.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"What if AWS itself is compromised?"  Out of scope. Same trust model as Intel SGX or AMD SEV — you trust the silicon vendor.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"Why not homomorphic encryption?"  Orders of magnitude too slow today (10⁵-10⁶× overhead). Confidential computing is the practical path.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"How does Nitro compare to Intel SGX?"  Same idea, different hardware. SGX is an in-CPU enclave with smaller footprint; Nitro is a separate VM with more memory and standard tooling.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181F2A"/>
                </a:solidFill>
                <a:latin typeface="Aptos"/>
              </a:rPr>
              <a:t>•  "Why three keys, not two?"  Because the host is in the path between KMS and the enclave. Without ephemeral RSA, the host could snoop.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 i="0">
                <a:solidFill>
                  <a:srgbClr val="5C697A"/>
                </a:solidFill>
                <a:latin typeface="Aptos"/>
              </a:rPr>
              <a:t>github.com/your-handle/medseal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5C697A"/>
                </a:solidFill>
                <a:latin typeface="Aptos"/>
              </a:rPr>
              <a:t>MedSeal · Grad Demo · 14/14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6400800"/>
            <a:ext cx="10881360" cy="0"/>
          </a:xfrm>
          <a:prstGeom prst="line">
            <a:avLst/>
          </a:prstGeom>
          <a:ln w="9525">
            <a:solidFill>
              <a:srgbClr val="CD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WithoutNumbers_2A" id="{DAA3A06B-2874-4C40-887F-CC7B1BF1C35D}" vid="{E9E9EAC2-7F89-5746-8376-BA09D22282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</TotalTime>
  <Words>2937</Words>
  <Application>Microsoft Office PowerPoint</Application>
  <PresentationFormat>On-screen Show (4:3)</PresentationFormat>
  <Paragraphs>282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Consolas</vt:lpstr>
      <vt:lpstr>Times</vt:lpstr>
      <vt:lpstr>Univers 75 Black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Jill Thomasson</dc:creator>
  <cp:lastModifiedBy>Kolakaluri, Sukeerth</cp:lastModifiedBy>
  <cp:revision>32</cp:revision>
  <dcterms:created xsi:type="dcterms:W3CDTF">2016-12-19T18:40:45Z</dcterms:created>
  <dcterms:modified xsi:type="dcterms:W3CDTF">2026-05-08T13:39:11Z</dcterms:modified>
</cp:coreProperties>
</file>